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  <Override PartName="/ppt/charts/chart2.xml" ContentType="application/vnd.openxmlformats-officedocument.drawingml.chart+xml"/>
  <Override PartName="/ppt/embeddings/Microsoft_Excel_Worksheet2.xlsx" ContentType="application/vnd.openxmlformats-officedocument.spreadsheetml.sheet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rot="0" spcFirstLastPara="1" vertOverflow="ellipsis" vert="horz" wrap="square" anchor="ctr" anchorCtr="1"/>
          <a:lstStyle/>
          <a:p>
            <a:pPr>
              <a:defRPr sz="1400"/>
            </a:pPr>
            <a:r>
              <a:rPr lang="en-US">
                <a:solidFill>
                  <a:srgbClr val="000000"/>
                </a:solidFill>
              </a:rPr>
              <a:t/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确认收入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1268</c:v>
                </c:pt>
                <c:pt idx="1">
                  <c:v>1190</c:v>
                </c:pt>
                <c:pt idx="2">
                  <c:v>1609</c:v>
                </c:pt>
                <c:pt idx="3">
                  <c:v>1480</c:v>
                </c:pt>
                <c:pt idx="4">
                  <c:v>1560</c:v>
                </c:pt>
                <c:pt idx="5">
                  <c:v>1780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新增 ARR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352</c:v>
                </c:pt>
                <c:pt idx="1">
                  <c:v>318</c:v>
                </c:pt>
                <c:pt idx="2">
                  <c:v>480</c:v>
                </c:pt>
                <c:pt idx="3">
                  <c:v>402</c:v>
                </c:pt>
                <c:pt idx="4">
                  <c:v>428</c:v>
                </c:pt>
                <c:pt idx="5">
                  <c:v>490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222222222"/>
      </c:catAx>
      <c:valAx>
        <c:axId val="222222222"/>
        <c:scaling>
          <c:orientation val="minMax"/>
        </c:scaling>
        <c:delete val="0"/>
        <c:axPos val="l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111111111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rot="0" spcFirstLastPara="1" vertOverflow="ellipsis" vert="horz" wrap="square" anchor="ctr" anchorCtr="1"/>
          <a:lstStyle/>
          <a:p>
            <a:pPr>
              <a:defRPr sz="1400"/>
            </a:pPr>
            <a:r>
              <a:rPr lang="en-US">
                <a:solidFill>
                  <a:srgbClr val="000000"/>
                </a:solidFill>
              </a:rPr>
              <a:t/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按期交付率(%)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96.2</c:v>
                </c:pt>
                <c:pt idx="1">
                  <c:v>95.1</c:v>
                </c:pt>
                <c:pt idx="2">
                  <c:v>95.5</c:v>
                </c:pt>
                <c:pt idx="3">
                  <c:v>93.4</c:v>
                </c:pt>
                <c:pt idx="4">
                  <c:v>91</c:v>
                </c:pt>
                <c:pt idx="5">
                  <c:v>89.6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在手订单(百万元)</c:v>
                </c:pt>
              </c:strCache>
            </c:strRef>
          </c:tx>
          <c:spPr>
            <a:solidFill>
              <a:srgbClr val="ED7D31"/>
            </a:solidFill>
            <a:ln>
              <a:solidFill>
                <a:srgbClr val="ED7D31"/>
              </a:solidFill>
            </a:ln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86</c:v>
                </c:pt>
                <c:pt idx="1">
                  <c:v>92</c:v>
                </c:pt>
                <c:pt idx="2">
                  <c:v>104</c:v>
                </c:pt>
                <c:pt idx="3">
                  <c:v>118</c:v>
                </c:pt>
                <c:pt idx="4">
                  <c:v>127</c:v>
                </c:pt>
                <c:pt idx="5">
                  <c:v>141</c:v>
                </c:pt>
              </c:numCache>
            </c:numRef>
          </c:val>
          <c:smooth val="0"/>
        </c:ser>
        <c:marker val="1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222222222"/>
      </c:catAx>
      <c:valAx>
        <c:axId val="222222222"/>
        <c:scaling>
          <c:orientation val="minMax"/>
        </c:scaling>
        <c:delete val="0"/>
        <c:axPos val="l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111111111"/>
      </c:valAx>
    </c:plotArea>
    <c:plotVisOnly val="1"/>
    <c:dispBlanksAs val="gap"/>
  </c:chart>
  <c:externalData r:id="rId1">
    <c:autoUpdate val="0"/>
  </c:externalData>
</c:chartSpace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开场 30 秒：本季度收入 4,820 万元，环比 +18.5%，超目标 7.1%；但毛利率与按期交付率同时下滑，本次需要管理层就预算与编制做三项决策。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结论一讲增长质量，结论二讲交付瓶颈，结论三讲现金流。右侧三项决策是本次会议要当场拍板的内容，若时间紧张先确认第①项。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四项卡片是本次最需关注的指标；表格给出完整口径与责任人。标红的两项风险（按期交付率、经营现金流）在第 5 页展开。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左图看增长，右图看代价：交付率下滑与订单堆积同步发生，说明是产能问题而非销售问题，直接支撑第 5 页 R1 与第 6 页增编请求。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逐行确认 Owner，不逐字念描述。重点争取 R1、R2 的资源与授权；R6 需 CFO 明确资本开支取舍。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收尾请求：请 CEO 当场确认三项决策，请 CFO 明确 1,200 万元资本开支取舍；其余按里程碑两周一次跟踪，逾期自动升级。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177800"/>
            <a:ext cx="12192000" cy="4826000"/>
          </a:xfrm>
          <a:prstGeom prst="rect">
            <a:avLst/>
          </a:prstGeom>
          <a:solidFill>
            <a:srgbClr val="F4F7F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914400" y="12192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300" b="1">
                <a:solidFill>
                  <a:srgbClr val="7A8A99"/>
                </a:solidFill>
                <a:latin typeface="Microsoft YaHei"/>
                <a:ea typeface="Microsoft YaHei"/>
              </a:rPr>
              <a:t>云枢智服 · 2026 年第二季度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1625600"/>
            <a:ext cx="9906000" cy="1219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3400" b="1">
                <a:solidFill>
                  <a:srgbClr val="16304F"/>
                </a:solidFill>
                <a:latin typeface="Microsoft YaHei"/>
                <a:ea typeface="Microsoft YaHei"/>
              </a:rPr>
              <a:t>Q2 经营复盘与下半年</a:t>
            </a:r>
          </a:p>
          <a:p>
            <a:pPr algn="l"/>
            <a:r>
              <a:rPr lang="en-US" sz="3400" b="1">
                <a:solidFill>
                  <a:srgbClr val="16304F"/>
                </a:solidFill>
                <a:latin typeface="Microsoft YaHei"/>
                <a:ea typeface="Microsoft YaHei"/>
              </a:rPr>
              <a:t>管理层决策简报</a:t>
            </a:r>
          </a:p>
        </p:txBody>
      </p:sp>
      <p:sp>
        <p:nvSpPr>
          <p:cNvPr id="6" name="rect 6"/>
          <p:cNvSpPr/>
          <p:nvPr/>
        </p:nvSpPr>
        <p:spPr>
          <a:xfrm>
            <a:off x="914400" y="3048000"/>
            <a:ext cx="1219200" cy="50800"/>
          </a:xfrm>
          <a:prstGeom prst="rect">
            <a:avLst/>
          </a:prstGeom>
          <a:solidFill>
            <a:srgbClr val="E08A2E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14400" y="3327400"/>
            <a:ext cx="9652000" cy="330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600" b="0">
                <a:solidFill>
                  <a:srgbClr val="4A5A6B"/>
                </a:solidFill>
                <a:latin typeface="Microsoft YaHei"/>
                <a:ea typeface="Microsoft YaHei"/>
              </a:rPr>
              <a:t>收入重回加速通道，交付与回款是下半年必须解开的两道扣</a:t>
            </a:r>
          </a:p>
        </p:txBody>
      </p:sp>
      <p:sp>
        <p:nvSpPr>
          <p:cNvPr id="8" name="rect 8"/>
          <p:cNvSpPr/>
          <p:nvPr/>
        </p:nvSpPr>
        <p:spPr>
          <a:xfrm>
            <a:off x="0" y="5003800"/>
            <a:ext cx="12192000" cy="18542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14400" y="53340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0">
                <a:solidFill>
                  <a:srgbClr val="DCE6F0"/>
                </a:solidFill>
                <a:latin typeface="Microsoft YaHei"/>
                <a:ea typeface="Microsoft YaHei"/>
              </a:rPr>
              <a:t>汇报对象：CEO 林承宇、CFO 何书婷、CTO 王砚舟及经营管理委员会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56896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0">
                <a:solidFill>
                  <a:srgbClr val="DCE6F0"/>
                </a:solidFill>
                <a:latin typeface="Microsoft YaHei"/>
                <a:ea typeface="Microsoft YaHei"/>
              </a:rPr>
              <a:t>汇报人：陈嘉禾（经营管理部 负责人）｜数据截至 2026 年 6 月 30 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60452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0">
                <a:solidFill>
                  <a:srgbClr val="8FA9C4"/>
                </a:solidFill>
                <a:latin typeface="Microsoft YaHei"/>
                <a:ea typeface="Microsoft YaHei"/>
              </a:rPr>
              <a:t>会议日期：2026 年 7 月 8 日｜版本 V2.1｜内部资料，请勿外传</a:t>
            </a:r>
          </a:p>
        </p:txBody>
      </p:sp>
      <p:cxnSp>
        <p:nvCxnSpPr>
          <p:cNvPr id="12" name="Straight Connector 12"/>
          <p:cNvCxnSpPr/>
          <p:nvPr/>
        </p:nvCxnSpPr>
        <p:spPr>
          <a:xfrm>
            <a:off x="6705600" y="5334000"/>
            <a:ext cx="0" cy="1193800"/>
          </a:xfrm>
          <a:prstGeom prst="line">
            <a:avLst/>
          </a:prstGeom>
          <a:ln w="12700">
            <a:solidFill>
              <a:srgbClr val="3C5A78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7112000" y="5486400"/>
            <a:ext cx="1473200" cy="330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4,820 万元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12000" y="5842000"/>
            <a:ext cx="14732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8FA9C4"/>
                </a:solidFill>
                <a:latin typeface="Microsoft YaHei"/>
                <a:ea typeface="Microsoft YaHei"/>
              </a:rPr>
              <a:t>Q2 确认收入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88400" y="5486400"/>
            <a:ext cx="1320800" cy="330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+18.5%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88400" y="5842000"/>
            <a:ext cx="13208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8FA9C4"/>
                </a:solidFill>
                <a:latin typeface="Microsoft YaHei"/>
                <a:ea typeface="Microsoft YaHei"/>
              </a:rPr>
              <a:t>环比增速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12400" y="54864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900" b="1">
                <a:solidFill>
                  <a:srgbClr val="FFFFFF"/>
                </a:solidFill>
                <a:latin typeface="Microsoft YaHei"/>
                <a:ea typeface="Microsoft YaHei"/>
              </a:rPr>
              <a:t>126%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12400" y="5842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8FA9C4"/>
                </a:solidFill>
                <a:latin typeface="Microsoft YaHei"/>
                <a:ea typeface="Microsoft YaHei"/>
              </a:rPr>
              <a:t>金额续费率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200" y="203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执行摘要：增长达标，但盈利质量在承压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1200" y="5588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50" b="0">
                <a:solidFill>
                  <a:srgbClr val="8FA9C4"/>
                </a:solidFill>
                <a:latin typeface="Microsoft YaHei"/>
                <a:ea typeface="Microsoft YaHei"/>
              </a:rPr>
              <a:t>三条结论 + 三项请求决策事项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12400" y="304800"/>
            <a:ext cx="1168400" cy="304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r"/>
            <a:r>
              <a:rPr lang="en-US" sz="1100" b="0">
                <a:solidFill>
                  <a:srgbClr val="8FA9C4"/>
                </a:solidFill>
                <a:latin typeface="Microsoft YaHei"/>
                <a:ea typeface="Microsoft YaHei"/>
              </a:rPr>
              <a:t>云枢智服 · 内部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1200" y="1219200"/>
            <a:ext cx="67056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350" b="1">
                <a:solidFill>
                  <a:srgbClr val="16304F"/>
                </a:solidFill>
                <a:latin typeface="Microsoft YaHei"/>
                <a:ea typeface="Microsoft YaHei"/>
              </a:rPr>
              <a:t>本季度三条核心结论</a:t>
            </a:r>
          </a:p>
        </p:txBody>
      </p:sp>
      <p:sp>
        <p:nvSpPr>
          <p:cNvPr id="7" name="rect 7"/>
          <p:cNvSpPr/>
          <p:nvPr/>
        </p:nvSpPr>
        <p:spPr>
          <a:xfrm>
            <a:off x="711200" y="1574800"/>
            <a:ext cx="6705600" cy="1168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8" name="rect 8"/>
          <p:cNvSpPr/>
          <p:nvPr/>
        </p:nvSpPr>
        <p:spPr>
          <a:xfrm>
            <a:off x="711200" y="1574800"/>
            <a:ext cx="63500" cy="1168400"/>
          </a:xfrm>
          <a:prstGeom prst="rect">
            <a:avLst/>
          </a:prstGeom>
          <a:solidFill>
            <a:srgbClr val="2E7D6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16000" y="17526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900" b="1">
                <a:solidFill>
                  <a:srgbClr val="2E7D61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9400" y="1778000"/>
            <a:ext cx="56388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350" b="1">
                <a:solidFill>
                  <a:srgbClr val="16304F"/>
                </a:solidFill>
                <a:latin typeface="Microsoft YaHei"/>
                <a:ea typeface="Microsoft YaHei"/>
              </a:rPr>
              <a:t>增长由大客户续约与增购驱动，质量健康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9400" y="2108200"/>
            <a:ext cx="5664200" cy="508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50" b="0">
                <a:solidFill>
                  <a:srgbClr val="4A5A6B"/>
                </a:solidFill>
                <a:latin typeface="Microsoft YaHei"/>
                <a:ea typeface="Microsoft YaHei"/>
              </a:rPr>
              <a:t>Q2 确认收入 4,820 万元，完成季度目标 107.1%；金额续费率 126%，Top20 客户贡献新增 ARR 的 68%。</a:t>
            </a:r>
          </a:p>
        </p:txBody>
      </p:sp>
      <p:sp>
        <p:nvSpPr>
          <p:cNvPr id="12" name="rect 12"/>
          <p:cNvSpPr/>
          <p:nvPr/>
        </p:nvSpPr>
        <p:spPr>
          <a:xfrm>
            <a:off x="711200" y="2895600"/>
            <a:ext cx="6705600" cy="1168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13" name="rect 13"/>
          <p:cNvSpPr/>
          <p:nvPr/>
        </p:nvSpPr>
        <p:spPr>
          <a:xfrm>
            <a:off x="711200" y="2895600"/>
            <a:ext cx="63500" cy="1168400"/>
          </a:xfrm>
          <a:prstGeom prst="rect">
            <a:avLst/>
          </a:prstGeom>
          <a:solidFill>
            <a:srgbClr val="E08A2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16000" y="30734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900" b="1">
                <a:solidFill>
                  <a:srgbClr val="E08A2E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9400" y="3098800"/>
            <a:ext cx="56388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350" b="1">
                <a:solidFill>
                  <a:srgbClr val="16304F"/>
                </a:solidFill>
                <a:latin typeface="Microsoft YaHei"/>
                <a:ea typeface="Microsoft YaHei"/>
              </a:rPr>
              <a:t>交付产能成为瓶颈，侵蚀毛利与口碑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49400" y="3429000"/>
            <a:ext cx="5664200" cy="508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50" b="0">
                <a:solidFill>
                  <a:srgbClr val="4A5A6B"/>
                </a:solidFill>
                <a:latin typeface="Microsoft YaHei"/>
                <a:ea typeface="Microsoft YaHei"/>
              </a:rPr>
              <a:t>毛利率 68.4%（环比 −2.1pt），按期交付率降至 91.3%；实施工程师缺口 14 人，两个千万级项目延期约 3 周。</a:t>
            </a:r>
          </a:p>
        </p:txBody>
      </p:sp>
      <p:sp>
        <p:nvSpPr>
          <p:cNvPr id="17" name="rect 17"/>
          <p:cNvSpPr/>
          <p:nvPr/>
        </p:nvSpPr>
        <p:spPr>
          <a:xfrm>
            <a:off x="711200" y="4216400"/>
            <a:ext cx="6705600" cy="1168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18" name="rect 18"/>
          <p:cNvSpPr/>
          <p:nvPr/>
        </p:nvSpPr>
        <p:spPr>
          <a:xfrm>
            <a:off x="711200" y="4216400"/>
            <a:ext cx="63500" cy="1168400"/>
          </a:xfrm>
          <a:prstGeom prst="rect">
            <a:avLst/>
          </a:prstGeom>
          <a:solidFill>
            <a:srgbClr val="B03A3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16000" y="4394200"/>
            <a:ext cx="431800" cy="304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900" b="1">
                <a:solidFill>
                  <a:srgbClr val="B03A3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49400" y="4419600"/>
            <a:ext cx="56388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350" b="1">
                <a:solidFill>
                  <a:srgbClr val="16304F"/>
                </a:solidFill>
                <a:latin typeface="Microsoft YaHei"/>
                <a:ea typeface="Microsoft YaHei"/>
              </a:rPr>
              <a:t>回款与现金流是下半年最大约束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49400" y="4749800"/>
            <a:ext cx="5664200" cy="508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50" b="0">
                <a:solidFill>
                  <a:srgbClr val="4A5A6B"/>
                </a:solidFill>
                <a:latin typeface="Microsoft YaHei"/>
                <a:ea typeface="Microsoft YaHei"/>
              </a:rPr>
              <a:t>DSO 由 68 天升至 79 天，6 月末应收账款 6,140 万元、逾期 90 天以上 820 万元；经营现金流 1,240 万元，低于净利润。</a:t>
            </a:r>
          </a:p>
        </p:txBody>
      </p:sp>
      <p:sp>
        <p:nvSpPr>
          <p:cNvPr id="22" name="rect 22"/>
          <p:cNvSpPr/>
          <p:nvPr/>
        </p:nvSpPr>
        <p:spPr>
          <a:xfrm>
            <a:off x="7772400" y="1219200"/>
            <a:ext cx="3708400" cy="41656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077200" y="1473200"/>
            <a:ext cx="3098800" cy="2794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450" b="1">
                <a:solidFill>
                  <a:srgbClr val="FFFFFF"/>
                </a:solidFill>
                <a:latin typeface="Microsoft YaHei"/>
                <a:ea typeface="Microsoft YaHei"/>
              </a:rPr>
              <a:t>本次请求决策（3 项）</a:t>
            </a:r>
          </a:p>
        </p:txBody>
      </p:sp>
      <p:sp>
        <p:nvSpPr>
          <p:cNvPr id="24" name="rect 24"/>
          <p:cNvSpPr/>
          <p:nvPr/>
        </p:nvSpPr>
        <p:spPr>
          <a:xfrm>
            <a:off x="8077200" y="1828800"/>
            <a:ext cx="711200" cy="38100"/>
          </a:xfrm>
          <a:prstGeom prst="rect">
            <a:avLst/>
          </a:prstGeom>
          <a:solidFill>
            <a:srgbClr val="E08A2E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77200" y="20828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1">
                <a:solidFill>
                  <a:srgbClr val="F0C98A"/>
                </a:solidFill>
                <a:latin typeface="Microsoft YaHei"/>
                <a:ea typeface="Microsoft YaHei"/>
              </a:rPr>
              <a:t>① 增补实施编制 14 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77200" y="2362200"/>
            <a:ext cx="3098800" cy="431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DCE6F0"/>
                </a:solidFill>
                <a:latin typeface="Microsoft YaHei"/>
                <a:ea typeface="Microsoft YaHei"/>
              </a:rPr>
              <a:t>2026 年 Q3 到位，年化人力成本 396 万元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077200" y="29464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1">
                <a:solidFill>
                  <a:srgbClr val="F0C98A"/>
                </a:solidFill>
                <a:latin typeface="Microsoft YaHei"/>
                <a:ea typeface="Microsoft YaHei"/>
              </a:rPr>
              <a:t>② 设立回款专项激励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077200" y="3225800"/>
            <a:ext cx="3098800" cy="431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DCE6F0"/>
                </a:solidFill>
                <a:latin typeface="Microsoft YaHei"/>
                <a:ea typeface="Microsoft YaHei"/>
              </a:rPr>
              <a:t>预算 80 万元，目标 Q3 末 DSO 回到 70 天内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77200" y="3810000"/>
            <a:ext cx="30988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1">
                <a:solidFill>
                  <a:srgbClr val="F0C98A"/>
                </a:solidFill>
                <a:latin typeface="Microsoft YaHei"/>
                <a:ea typeface="Microsoft YaHei"/>
              </a:rPr>
              <a:t>③ 暂缓华东二线仓配扩容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77200" y="4089400"/>
            <a:ext cx="3098800" cy="431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DCE6F0"/>
                </a:solidFill>
                <a:latin typeface="Microsoft YaHei"/>
                <a:ea typeface="Microsoft YaHei"/>
              </a:rPr>
              <a:t>释放 1,200 万元资本开支，优先保交付产能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077200" y="4724400"/>
            <a:ext cx="3098800" cy="431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1">
                <a:solidFill>
                  <a:srgbClr val="E08A2E"/>
                </a:solidFill>
                <a:latin typeface="Microsoft YaHei"/>
                <a:ea typeface="Microsoft YaHei"/>
              </a:rPr>
              <a:t>三项决策需在 7 月 15 日经营会上确认</a:t>
            </a:r>
          </a:p>
        </p:txBody>
      </p:sp>
      <p:sp>
        <p:nvSpPr>
          <p:cNvPr id="32" name="rect 32"/>
          <p:cNvSpPr/>
          <p:nvPr/>
        </p:nvSpPr>
        <p:spPr>
          <a:xfrm>
            <a:off x="711200" y="5638800"/>
            <a:ext cx="10769600" cy="558800"/>
          </a:xfrm>
          <a:prstGeom prst="rect">
            <a:avLst/>
          </a:prstGeom>
          <a:solidFill>
            <a:srgbClr val="FBF3E6"/>
          </a:solidFill>
          <a:ln w="12700">
            <a:solidFill>
              <a:srgbClr val="E08A2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965200" y="5791200"/>
            <a:ext cx="10261600" cy="2794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1">
                <a:solidFill>
                  <a:srgbClr val="8A5A16"/>
                </a:solidFill>
                <a:latin typeface="Microsoft YaHei"/>
                <a:ea typeface="Microsoft YaHei"/>
              </a:rPr>
              <a:t>管理层 takeaway：Q3 优先“保交付、促回款”，收入目标 5,300 万元维持不变，毛利率目标阶段性下调至 69%。</a:t>
            </a:r>
          </a:p>
        </p:txBody>
      </p:sp>
      <p:sp>
        <p:nvSpPr>
          <p:cNvPr id="34" name="rect 34"/>
          <p:cNvSpPr/>
          <p:nvPr/>
        </p:nvSpPr>
        <p:spPr>
          <a:xfrm>
            <a:off x="711200" y="6299200"/>
            <a:ext cx="10769600" cy="12700"/>
          </a:xfrm>
          <a:prstGeom prst="rect">
            <a:avLst/>
          </a:prstGeom>
          <a:solidFill>
            <a:srgbClr val="DDE5EC"/>
          </a:solidFill>
          <a:ln w="12700">
            <a:solidFill>
              <a:srgbClr val="DDE5E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1200" y="6451600"/>
            <a:ext cx="60960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编制：经营管理部 顾一凡｜数据截至 2026-06-30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60000" y="64516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r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02 / 06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200" y="203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关键 KPI 仪表盘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1200" y="5588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50" b="0">
                <a:solidFill>
                  <a:srgbClr val="8FA9C4"/>
                </a:solidFill>
                <a:latin typeface="Microsoft YaHei"/>
                <a:ea typeface="Microsoft YaHei"/>
              </a:rPr>
              <a:t>统计区间 2026-04-01 至 2026-06-30，口径与 2026 年预算书一致</a:t>
            </a:r>
          </a:p>
        </p:txBody>
      </p:sp>
      <p:sp>
        <p:nvSpPr>
          <p:cNvPr id="5" name="rect 5"/>
          <p:cNvSpPr/>
          <p:nvPr/>
        </p:nvSpPr>
        <p:spPr>
          <a:xfrm>
            <a:off x="711200" y="1168400"/>
            <a:ext cx="2565400" cy="965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914400" y="1295400"/>
            <a:ext cx="21590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1">
                <a:solidFill>
                  <a:srgbClr val="7A8A99"/>
                </a:solidFill>
                <a:latin typeface="Microsoft YaHei"/>
                <a:ea typeface="Microsoft YaHei"/>
              </a:rPr>
              <a:t>确认收入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15240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100" b="1">
                <a:solidFill>
                  <a:srgbClr val="16304F"/>
                </a:solidFill>
                <a:latin typeface="Microsoft YaHei"/>
                <a:ea typeface="Microsoft YaHei"/>
              </a:rPr>
              <a:t>4,820 万元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879600"/>
            <a:ext cx="2159000" cy="177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1">
                <a:solidFill>
                  <a:srgbClr val="2E7D61"/>
                </a:solidFill>
                <a:latin typeface="Microsoft YaHei"/>
                <a:ea typeface="Microsoft YaHei"/>
              </a:rPr>
              <a:t>环比 +18.5%｜达成 107%</a:t>
            </a:r>
          </a:p>
        </p:txBody>
      </p:sp>
      <p:sp>
        <p:nvSpPr>
          <p:cNvPr id="9" name="rect 9"/>
          <p:cNvSpPr/>
          <p:nvPr/>
        </p:nvSpPr>
        <p:spPr>
          <a:xfrm>
            <a:off x="3454400" y="1168400"/>
            <a:ext cx="2565400" cy="965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657600" y="1295400"/>
            <a:ext cx="21590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1">
                <a:solidFill>
                  <a:srgbClr val="7A8A99"/>
                </a:solidFill>
                <a:latin typeface="Microsoft YaHei"/>
                <a:ea typeface="Microsoft YaHei"/>
              </a:rPr>
              <a:t>综合毛利率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57600" y="15240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100" b="1">
                <a:solidFill>
                  <a:srgbClr val="16304F"/>
                </a:solidFill>
                <a:latin typeface="Microsoft YaHei"/>
                <a:ea typeface="Microsoft YaHei"/>
              </a:rPr>
              <a:t>68.4%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57600" y="1879600"/>
            <a:ext cx="2159000" cy="177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1">
                <a:solidFill>
                  <a:srgbClr val="B03A3A"/>
                </a:solidFill>
                <a:latin typeface="Microsoft YaHei"/>
                <a:ea typeface="Microsoft YaHei"/>
              </a:rPr>
              <a:t>环比 −2.1pt｜低目标 1.6pt</a:t>
            </a:r>
          </a:p>
        </p:txBody>
      </p:sp>
      <p:sp>
        <p:nvSpPr>
          <p:cNvPr id="13" name="rect 13"/>
          <p:cNvSpPr/>
          <p:nvPr/>
        </p:nvSpPr>
        <p:spPr>
          <a:xfrm>
            <a:off x="6197600" y="1168400"/>
            <a:ext cx="2565400" cy="965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00800" y="1295400"/>
            <a:ext cx="21590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1">
                <a:solidFill>
                  <a:srgbClr val="7A8A99"/>
                </a:solidFill>
                <a:latin typeface="Microsoft YaHei"/>
                <a:ea typeface="Microsoft YaHei"/>
              </a:rPr>
              <a:t>新增 ARR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00800" y="15240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100" b="1">
                <a:solidFill>
                  <a:srgbClr val="16304F"/>
                </a:solidFill>
                <a:latin typeface="Microsoft YaHei"/>
                <a:ea typeface="Microsoft YaHei"/>
              </a:rPr>
              <a:t>1,320 万元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00800" y="1879600"/>
            <a:ext cx="2159000" cy="177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1">
                <a:solidFill>
                  <a:srgbClr val="2E7D61"/>
                </a:solidFill>
                <a:latin typeface="Microsoft YaHei"/>
                <a:ea typeface="Microsoft YaHei"/>
              </a:rPr>
              <a:t>环比 +14.8%｜达成 110%</a:t>
            </a:r>
          </a:p>
        </p:txBody>
      </p:sp>
      <p:sp>
        <p:nvSpPr>
          <p:cNvPr id="17" name="rect 17"/>
          <p:cNvSpPr/>
          <p:nvPr/>
        </p:nvSpPr>
        <p:spPr>
          <a:xfrm>
            <a:off x="8940800" y="1168400"/>
            <a:ext cx="2565400" cy="965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9144000" y="1295400"/>
            <a:ext cx="21590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1">
                <a:solidFill>
                  <a:srgbClr val="7A8A99"/>
                </a:solidFill>
                <a:latin typeface="Microsoft YaHei"/>
                <a:ea typeface="Microsoft YaHei"/>
              </a:rPr>
              <a:t>应收账款 DSO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0" y="15240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100" b="1">
                <a:solidFill>
                  <a:srgbClr val="16304F"/>
                </a:solidFill>
                <a:latin typeface="Microsoft YaHei"/>
                <a:ea typeface="Microsoft YaHei"/>
              </a:rPr>
              <a:t>79 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1879600"/>
            <a:ext cx="2159000" cy="177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1">
                <a:solidFill>
                  <a:srgbClr val="B03A3A"/>
                </a:solidFill>
                <a:latin typeface="Microsoft YaHei"/>
                <a:ea typeface="Microsoft YaHei"/>
              </a:rPr>
              <a:t>环比 +11 天｜目标 ≤70 天</a:t>
            </a:r>
          </a:p>
        </p:txBody>
      </p:sp>
      <p:graphicFrame>
        <p:nvGraphicFramePr>
          <p:cNvPr id="21" name="Table 21"/>
          <p:cNvGraphicFramePr>
            <a:graphicFrameLocks noGrp="1"/>
          </p:cNvGraphicFramePr>
          <p:nvPr/>
        </p:nvGraphicFramePr>
        <p:xfrm>
          <a:off x="711200" y="2387600"/>
          <a:ext cx="10769600" cy="28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514"/>
                <a:gridCol w="1538514"/>
                <a:gridCol w="1538514"/>
                <a:gridCol w="1538514"/>
                <a:gridCol w="1538514"/>
                <a:gridCol w="1538514"/>
                <a:gridCol w="1538516"/>
              </a:tblGrid>
              <a:tr h="316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Q2 实际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Q1 实际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Q2 目标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达成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/>
                </a:tc>
              </a:tr>
              <a:tr h="316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收入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4,820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4,067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4,500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+7.1%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达标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方立群</a:t>
                      </a:r>
                    </a:p>
                  </a:txBody>
                  <a:tcPr marL="91440" marR="91440" marT="45720" marB="45720"/>
                </a:tc>
              </a:tr>
              <a:tr h="316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新增 ARR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1,320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1,150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1,200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+10.0%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达标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方立群</a:t>
                      </a:r>
                    </a:p>
                  </a:txBody>
                  <a:tcPr marL="91440" marR="91440" marT="45720" marB="45720"/>
                </a:tc>
              </a:tr>
              <a:tr h="316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续费率 NRR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126%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119%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+11pt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达标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郑晓彤</a:t>
                      </a:r>
                    </a:p>
                  </a:txBody>
                  <a:tcPr marL="91440" marR="91440" marT="45720" marB="45720"/>
                </a:tc>
              </a:tr>
              <a:tr h="316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毛利率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68.4%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70.5%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70.0%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−1.6pt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预警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苏明远</a:t>
                      </a:r>
                    </a:p>
                  </a:txBody>
                  <a:tcPr marL="91440" marR="91440" marT="45720" marB="45720"/>
                </a:tc>
              </a:tr>
              <a:tr h="316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按期交付率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91.3%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95.6%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96.0%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−4.7pt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风险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苏明远</a:t>
                      </a:r>
                    </a:p>
                  </a:txBody>
                  <a:tcPr marL="91440" marR="91440" marT="45720" marB="45720"/>
                </a:tc>
              </a:tr>
              <a:tr h="316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月流失率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1.2%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≤1.0%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+0.4pt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预警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郑晓彤</a:t>
                      </a:r>
                    </a:p>
                  </a:txBody>
                  <a:tcPr marL="91440" marR="91440" marT="45720" marB="45720"/>
                </a:tc>
              </a:tr>
              <a:tr h="316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经营现金流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1,240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1,520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1,800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68.9%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风险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何书婷</a:t>
                      </a:r>
                    </a:p>
                  </a:txBody>
                  <a:tcPr marL="91440" marR="91440" marT="45720" marB="45720"/>
                </a:tc>
              </a:tr>
              <a:tr h="316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产品 NPS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46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−5 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预警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唐　维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2" name="rect 22"/>
          <p:cNvSpPr/>
          <p:nvPr/>
        </p:nvSpPr>
        <p:spPr>
          <a:xfrm>
            <a:off x="711200" y="5384800"/>
            <a:ext cx="10769600" cy="584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39800" y="5486400"/>
            <a:ext cx="10312400" cy="4064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口径说明：收入含订阅（Q2 3,260 万元）与实施服务及硬件（1,560 万元）；期末 ARR 1.26 亿元、环比 +8.6%；新签 62 家、流失 14 家；在职员工 486 人。</a:t>
            </a:r>
          </a:p>
        </p:txBody>
      </p:sp>
      <p:sp>
        <p:nvSpPr>
          <p:cNvPr id="24" name="rect 24"/>
          <p:cNvSpPr/>
          <p:nvPr/>
        </p:nvSpPr>
        <p:spPr>
          <a:xfrm>
            <a:off x="711200" y="6299200"/>
            <a:ext cx="10769600" cy="12700"/>
          </a:xfrm>
          <a:prstGeom prst="rect">
            <a:avLst/>
          </a:prstGeom>
          <a:ln w="12700">
            <a:solidFill>
              <a:srgbClr val="DDE5E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11200" y="6451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数据来源：ERP 财务模块 + 交付管理系统（PMO）｜编制：经营管理部 顾一凡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60000" y="64516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r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03 / 06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200" y="203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收入与交付趋势：接单提速，交付吃紧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1200" y="5588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50" b="0">
                <a:solidFill>
                  <a:srgbClr val="8FA9C4"/>
                </a:solidFill>
                <a:latin typeface="Microsoft YaHei"/>
                <a:ea typeface="Microsoft YaHei"/>
              </a:rPr>
              <a:t>03 ｜ 2026 年 1—6 月月度趋势，单位：万元 / 百分比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1200" y="1168400"/>
            <a:ext cx="53848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300" b="1">
                <a:solidFill>
                  <a:srgbClr val="16304F"/>
                </a:solidFill>
                <a:latin typeface="Microsoft YaHei"/>
                <a:ea typeface="Microsoft YaHei"/>
              </a:rPr>
              <a:t>月度确认收入与新增 ARR</a:t>
            </a:r>
          </a:p>
        </p:txBody>
      </p:sp>
      <p:graphicFrame>
        <p:nvGraphicFramePr>
          <p:cNvPr id="6" name="Chart 1"/>
          <p:cNvGraphicFramePr/>
          <p:nvPr/>
        </p:nvGraphicFramePr>
        <p:xfrm>
          <a:off x="711200" y="1422400"/>
          <a:ext cx="5384800" cy="287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711200" y="4368800"/>
            <a:ext cx="53848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0">
                <a:solidFill>
                  <a:srgbClr val="7A8A99"/>
                </a:solidFill>
                <a:latin typeface="Microsoft YaHei"/>
                <a:ea typeface="Microsoft YaHei"/>
              </a:rPr>
              <a:t>6 月单月收入 1,780 万元创历史新高；季度环比 +18.5%，主要由制造、零售两大行业拉动。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02400" y="1168400"/>
            <a:ext cx="49784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300" b="1">
                <a:solidFill>
                  <a:srgbClr val="16304F"/>
                </a:solidFill>
                <a:latin typeface="Microsoft YaHei"/>
                <a:ea typeface="Microsoft YaHei"/>
              </a:rPr>
              <a:t>按期交付率与在手订单</a:t>
            </a:r>
          </a:p>
        </p:txBody>
      </p:sp>
      <p:graphicFrame>
        <p:nvGraphicFramePr>
          <p:cNvPr id="9" name="Chart 2"/>
          <p:cNvGraphicFramePr/>
          <p:nvPr/>
        </p:nvGraphicFramePr>
        <p:xfrm>
          <a:off x="6502400" y="1422400"/>
          <a:ext cx="4978400" cy="287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6502400" y="4368800"/>
            <a:ext cx="49784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0">
                <a:solidFill>
                  <a:srgbClr val="7A8A99"/>
                </a:solidFill>
                <a:latin typeface="Microsoft YaHei"/>
                <a:ea typeface="Microsoft YaHei"/>
              </a:rPr>
              <a:t>按期交付率连续 4 个月下滑，与在手订单增长曲线呈明显反向关系。</a:t>
            </a:r>
          </a:p>
        </p:txBody>
      </p:sp>
      <p:sp>
        <p:nvSpPr>
          <p:cNvPr id="11" name="rect 11"/>
          <p:cNvSpPr/>
          <p:nvPr/>
        </p:nvSpPr>
        <p:spPr>
          <a:xfrm>
            <a:off x="711200" y="4775200"/>
            <a:ext cx="10769600" cy="14224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65200" y="4927600"/>
            <a:ext cx="102616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1">
                <a:solidFill>
                  <a:srgbClr val="16304F"/>
                </a:solidFill>
                <a:latin typeface="Microsoft YaHei"/>
                <a:ea typeface="Microsoft YaHei"/>
              </a:rPr>
              <a:t>三条趋势解读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5200" y="5232400"/>
            <a:ext cx="3352800" cy="812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4A5A6B"/>
                </a:solidFill>
                <a:latin typeface="Microsoft YaHei"/>
                <a:ea typeface="Microsoft YaHei"/>
              </a:rPr>
              <a:t>① 需求端健康：新签 62 家，制造业客户占比升至 34%，平均客单价由 41 万元提升至 47 万元。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70400" y="5232400"/>
            <a:ext cx="3352800" cy="812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4A5A6B"/>
                </a:solidFill>
                <a:latin typeface="Microsoft YaHei"/>
                <a:ea typeface="Microsoft YaHei"/>
              </a:rPr>
              <a:t>② 交付端透支：人均并行项目由 2.1 升至 2.9 个，5—6 月加班工时同比 +23%，质量成本开始显现。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75600" y="5232400"/>
            <a:ext cx="3251200" cy="812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4A5A6B"/>
                </a:solidFill>
                <a:latin typeface="Microsoft YaHei"/>
                <a:ea typeface="Microsoft YaHei"/>
              </a:rPr>
              <a:t>③ 结构风险：汽车与能源两个行业线贡献 41% 新增订单，集中度偏高，需 Q3 分散至零售与医疗。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1200" y="6451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数据来源：交付管理系统（PMO）月度快照｜编制：经营管理部 顾一凡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60000" y="64516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r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04 / 06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200" y="2032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风险登记与责任人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1200" y="5588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50" b="0">
                <a:solidFill>
                  <a:srgbClr val="8FA9C4"/>
                </a:solidFill>
                <a:latin typeface="Microsoft YaHei"/>
                <a:ea typeface="Microsoft YaHei"/>
              </a:rPr>
              <a:t>每项风险均有单一 Owner 与关闭时点，逾期自动升级至 CEO 例会｜更新 2026-07-03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11200" y="1168400"/>
          <a:ext cx="10769600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920"/>
                <a:gridCol w="2153920"/>
                <a:gridCol w="2153920"/>
                <a:gridCol w="2153920"/>
                <a:gridCol w="2153920"/>
              </a:tblGrid>
              <a:tr h="4408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风险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影响/概率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缓解措施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关闭时点</a:t>
                      </a:r>
                    </a:p>
                  </a:txBody>
                  <a:tcPr marL="91440" marR="91440" marT="45720" marB="45720"/>
                </a:tc>
              </a:tr>
              <a:tr h="4408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R1 人力缺口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高 / 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借调＋转岗 14 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苏明远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07-31</a:t>
                      </a:r>
                    </a:p>
                  </a:txBody>
                  <a:tcPr marL="91440" marR="91440" marT="45720" marB="45720"/>
                </a:tc>
              </a:tr>
              <a:tr h="4408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R2 DSO 79 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高 / 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Top10 回款计划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何书婷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09-30</a:t>
                      </a:r>
                    </a:p>
                  </a:txBody>
                  <a:tcPr marL="91440" marR="91440" marT="45720" marB="45720"/>
                </a:tc>
              </a:tr>
              <a:tr h="4408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R3 行业集中度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中 / 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增设两个行业组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方立群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09-15</a:t>
                      </a:r>
                    </a:p>
                  </a:txBody>
                  <a:tcPr marL="91440" marR="91440" marT="45720" marB="45720"/>
                </a:tc>
              </a:tr>
              <a:tr h="4408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R4 单点依赖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高 / 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关键岗 AB 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唐　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08-31</a:t>
                      </a:r>
                    </a:p>
                  </a:txBody>
                  <a:tcPr marL="91440" marR="91440" marT="45720" marB="45720"/>
                </a:tc>
              </a:tr>
              <a:tr h="4408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R5 流失率 1.4%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中 / 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预警＋主动回访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郑晓彤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10-31</a:t>
                      </a:r>
                    </a:p>
                  </a:txBody>
                  <a:tcPr marL="91440" marR="91440" marT="45720" marB="45720"/>
                </a:tc>
              </a:tr>
              <a:tr h="440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R6 开支争抢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中 / 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暂缓扩容改租赁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顾一凡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12-31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rect 6"/>
          <p:cNvSpPr/>
          <p:nvPr/>
        </p:nvSpPr>
        <p:spPr>
          <a:xfrm>
            <a:off x="711200" y="4419600"/>
            <a:ext cx="5283200" cy="1371600"/>
          </a:xfrm>
          <a:prstGeom prst="rect">
            <a:avLst/>
          </a:prstGeom>
          <a:solidFill>
            <a:srgbClr val="FBEEF0"/>
          </a:solidFill>
          <a:ln w="12700">
            <a:solidFill>
              <a:srgbClr val="B03A3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39800" y="4572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1">
                <a:solidFill>
                  <a:srgbClr val="B03A3A"/>
                </a:solidFill>
                <a:latin typeface="Microsoft YaHei"/>
                <a:ea typeface="Microsoft YaHei"/>
              </a:rPr>
              <a:t>需管理层立即介入：R1 + R2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800" y="4851400"/>
            <a:ext cx="4851400" cy="838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0">
                <a:solidFill>
                  <a:srgbClr val="5A3030"/>
                </a:solidFill>
                <a:latin typeface="Microsoft YaHei"/>
                <a:ea typeface="Microsoft YaHei"/>
              </a:rPr>
              <a:t>R1：恒瑞制造、中原能源两个千万级项目已延期约 3 周。</a:t>
            </a:r>
          </a:p>
          <a:p>
            <a:pPr algn="l"/>
            <a:r>
              <a:rPr lang="en-US" sz="1050" b="0">
                <a:solidFill>
                  <a:srgbClr val="5A3030"/>
                </a:solidFill>
                <a:latin typeface="Microsoft YaHei"/>
                <a:ea typeface="Microsoft YaHei"/>
              </a:rPr>
              <a:t>R2：逾期 90 天以上应收 820 万元。</a:t>
            </a:r>
          </a:p>
          <a:p>
            <a:pPr algn="l"/>
            <a:r>
              <a:rPr lang="en-US" sz="1050" b="0">
                <a:solidFill>
                  <a:srgbClr val="5A3030"/>
                </a:solidFill>
                <a:latin typeface="Microsoft YaHei"/>
                <a:ea typeface="Microsoft YaHei"/>
              </a:rPr>
              <a:t>两者叠加：若 7/31 前产能未补齐，1,150 万元收入存在跨季风险，</a:t>
            </a:r>
          </a:p>
          <a:p>
            <a:pPr algn="l"/>
            <a:r>
              <a:rPr lang="en-US" sz="1050" b="0">
                <a:solidFill>
                  <a:srgbClr val="5A3030"/>
                </a:solidFill>
                <a:latin typeface="Microsoft YaHei"/>
                <a:ea typeface="Microsoft YaHei"/>
              </a:rPr>
              <a:t>预计拖累 Q3 收入达成率约 6pt。</a:t>
            </a:r>
          </a:p>
        </p:txBody>
      </p:sp>
      <p:sp>
        <p:nvSpPr>
          <p:cNvPr id="9" name="rect 9"/>
          <p:cNvSpPr/>
          <p:nvPr/>
        </p:nvSpPr>
        <p:spPr>
          <a:xfrm>
            <a:off x="6197600" y="4419600"/>
            <a:ext cx="5283200" cy="1371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426200" y="4572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1">
                <a:solidFill>
                  <a:srgbClr val="16304F"/>
                </a:solidFill>
                <a:latin typeface="Microsoft YaHei"/>
                <a:ea typeface="Microsoft YaHei"/>
              </a:rPr>
              <a:t>风险治理机制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26200" y="4851400"/>
            <a:ext cx="4851400" cy="838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① 每两周一次风险复盘，PMO 主持、经营管理部记录；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② 影响等级升至“高”，24 小时内上报 CEO；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③ 关闭时点逾期两次，纳入 Owner 季度绩效评估；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④ 评级口径详见《风险管理办法 V3.2》。</a:t>
            </a:r>
          </a:p>
        </p:txBody>
      </p:sp>
      <p:sp>
        <p:nvSpPr>
          <p:cNvPr id="12" name="rect 12"/>
          <p:cNvSpPr/>
          <p:nvPr/>
        </p:nvSpPr>
        <p:spPr>
          <a:xfrm>
            <a:off x="711200" y="6045200"/>
            <a:ext cx="10769600" cy="12700"/>
          </a:xfrm>
          <a:prstGeom prst="rect">
            <a:avLst/>
          </a:prstGeom>
          <a:ln w="12700">
            <a:solidFill>
              <a:srgbClr val="DDE5EC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11200" y="6197600"/>
            <a:ext cx="71120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关闭时点均为 2026 年｜登记部门：经营管理部｜汇总人：顾一凡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60000" y="61976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r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05 / 06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rect 2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11200" y="2032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下一步：Q3 三大主线与里程碑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1200" y="5588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50" b="0">
                <a:solidFill>
                  <a:srgbClr val="8FA9C4"/>
                </a:solidFill>
                <a:latin typeface="Microsoft YaHei"/>
                <a:ea typeface="Microsoft YaHei"/>
              </a:rPr>
              <a:t>计划周期 2026-07-01 至 2026-09-30｜下次经营复盘 2026-10-13</a:t>
            </a:r>
          </a:p>
        </p:txBody>
      </p:sp>
      <p:sp>
        <p:nvSpPr>
          <p:cNvPr id="5" name="rect 5"/>
          <p:cNvSpPr/>
          <p:nvPr/>
        </p:nvSpPr>
        <p:spPr>
          <a:xfrm>
            <a:off x="711200" y="1117600"/>
            <a:ext cx="3454400" cy="1625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6" name="rect 6"/>
          <p:cNvSpPr/>
          <p:nvPr/>
        </p:nvSpPr>
        <p:spPr>
          <a:xfrm>
            <a:off x="711200" y="1117600"/>
            <a:ext cx="3454400" cy="63500"/>
          </a:xfrm>
          <a:prstGeom prst="rect">
            <a:avLst/>
          </a:prstGeom>
          <a:solidFill>
            <a:srgbClr val="2E7D6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9800" y="1295400"/>
            <a:ext cx="29972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400" b="1">
                <a:solidFill>
                  <a:srgbClr val="16304F"/>
                </a:solidFill>
                <a:latin typeface="Microsoft YaHei"/>
                <a:ea typeface="Microsoft YaHei"/>
              </a:rPr>
              <a:t>主线一｜保交付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800" y="1600200"/>
            <a:ext cx="3048000" cy="10414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7/20 前补齐实施人力 14 人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7/31 恒瑞制造恢复关键路径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8/15 项目排产看板上线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9/30 交付率回 96%、毛利率 69.5%</a:t>
            </a:r>
          </a:p>
        </p:txBody>
      </p:sp>
      <p:sp>
        <p:nvSpPr>
          <p:cNvPr id="9" name="rect 9"/>
          <p:cNvSpPr/>
          <p:nvPr/>
        </p:nvSpPr>
        <p:spPr>
          <a:xfrm>
            <a:off x="4368800" y="1117600"/>
            <a:ext cx="3454400" cy="1625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10" name="rect 10"/>
          <p:cNvSpPr/>
          <p:nvPr/>
        </p:nvSpPr>
        <p:spPr>
          <a:xfrm>
            <a:off x="4368800" y="1117600"/>
            <a:ext cx="3454400" cy="63500"/>
          </a:xfrm>
          <a:prstGeom prst="rect">
            <a:avLst/>
          </a:prstGeom>
          <a:solidFill>
            <a:srgbClr val="E08A2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97400" y="1295400"/>
            <a:ext cx="29972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400" b="1">
                <a:solidFill>
                  <a:srgbClr val="16304F"/>
                </a:solidFill>
                <a:latin typeface="Microsoft YaHei"/>
                <a:ea typeface="Microsoft YaHei"/>
              </a:rPr>
              <a:t>主线二｜促回款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97400" y="1600200"/>
            <a:ext cx="3048000" cy="10414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7/12 Top10 签回款计划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7/15 发布回款激励，预算 80 万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8/31 逾期应收压降 420 万元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9/30 DSO ≤70 天、现金流 2,000 万</a:t>
            </a:r>
          </a:p>
        </p:txBody>
      </p:sp>
      <p:sp>
        <p:nvSpPr>
          <p:cNvPr id="13" name="rect 13"/>
          <p:cNvSpPr/>
          <p:nvPr/>
        </p:nvSpPr>
        <p:spPr>
          <a:xfrm>
            <a:off x="8026400" y="1117600"/>
            <a:ext cx="3454400" cy="1625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DE5EC"/>
            </a:solidFill>
          </a:ln>
        </p:spPr>
      </p:sp>
      <p:sp>
        <p:nvSpPr>
          <p:cNvPr id="14" name="rect 14"/>
          <p:cNvSpPr/>
          <p:nvPr/>
        </p:nvSpPr>
        <p:spPr>
          <a:xfrm>
            <a:off x="8026400" y="1117600"/>
            <a:ext cx="3454400" cy="635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255000" y="1295400"/>
            <a:ext cx="2997200" cy="2540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400" b="1">
                <a:solidFill>
                  <a:srgbClr val="16304F"/>
                </a:solidFill>
                <a:latin typeface="Microsoft YaHei"/>
                <a:ea typeface="Microsoft YaHei"/>
              </a:rPr>
              <a:t>主线三｜调结构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55000" y="1600200"/>
            <a:ext cx="3048000" cy="10414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7/31 成立零售、医疗方案组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8/31 调度引擎 AB 角完成交接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9/15 汽车能源订单占比降至 30%</a:t>
            </a:r>
          </a:p>
          <a:p>
            <a:pPr algn="l"/>
            <a:r>
              <a:rPr lang="en-US" sz="1050" b="0">
                <a:solidFill>
                  <a:srgbClr val="4A5A6B"/>
                </a:solidFill>
                <a:latin typeface="Microsoft YaHei"/>
                <a:ea typeface="Microsoft YaHei"/>
              </a:rPr>
              <a:t>· 9/30 预警上线，流失率回 1.0%</a:t>
            </a:r>
          </a:p>
        </p:txBody>
      </p: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711200" y="2921000"/>
          <a:ext cx="1076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3920"/>
                <a:gridCol w="2153920"/>
                <a:gridCol w="2153920"/>
                <a:gridCol w="2153920"/>
                <a:gridCol w="2153920"/>
              </a:tblGrid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时间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里程碑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交付物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验收标准</a:t>
                      </a:r>
                    </a:p>
                  </a:txBody>
                  <a:tcPr marL="91440" marR="91440" marT="45720" marB="45720"/>
                </a:tc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7/15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三项决策拍板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预算与增编批复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陈嘉禾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CFO/CEO 签发生效</a:t>
                      </a:r>
                    </a:p>
                  </a:txBody>
                  <a:tcPr marL="91440" marR="91440" marT="45720" marB="45720"/>
                </a:tc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7/31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交付产能恢复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14 人到岗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苏明远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关键项目零延期</a:t>
                      </a:r>
                    </a:p>
                  </a:txBody>
                  <a:tcPr marL="91440" marR="91440" marT="45720" marB="45720"/>
                </a:tc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8/31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回款攻坚收口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压降逾期 420 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何书婷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DSO ≤72 天</a:t>
                      </a:r>
                    </a:p>
                  </a:txBody>
                  <a:tcPr marL="91440" marR="91440" marT="45720" marB="45720"/>
                </a:tc>
              </a:tr>
              <a:tr h="314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9/30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Q3 目标交账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季报与滚动预测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方立群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>
                          <a:solidFill>
                            <a:srgbClr val="000000"/>
                          </a:solidFill>
                        </a:rPr>
                        <a:t>收入 5,300 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8" name="rect 18"/>
          <p:cNvSpPr/>
          <p:nvPr/>
        </p:nvSpPr>
        <p:spPr>
          <a:xfrm>
            <a:off x="711200" y="4724400"/>
            <a:ext cx="10769600" cy="1219200"/>
          </a:xfrm>
          <a:prstGeom prst="rect">
            <a:avLst/>
          </a:prstGeom>
          <a:solidFill>
            <a:srgbClr val="16304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65200" y="49022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250" b="1">
                <a:solidFill>
                  <a:srgbClr val="FFFFFF"/>
                </a:solidFill>
                <a:latin typeface="Microsoft YaHei"/>
                <a:ea typeface="Microsoft YaHei"/>
              </a:rPr>
              <a:t>Q3 目标承诺（已与经营管理委员会对齐）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5200" y="5207000"/>
            <a:ext cx="102616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0">
                <a:solidFill>
                  <a:srgbClr val="DCE6F0"/>
                </a:solidFill>
                <a:latin typeface="Microsoft YaHei"/>
                <a:ea typeface="Microsoft YaHei"/>
              </a:rPr>
              <a:t>确认收入 5,300 万元｜新增 ARR 1,450 万元｜按期交付率 96%｜DSO 70 天｜经营现金流 2,000 万元｜NRR ≥120%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5200" y="5511800"/>
            <a:ext cx="10261600" cy="2286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100" b="1">
                <a:solidFill>
                  <a:srgbClr val="F0C98A"/>
                </a:solidFill>
                <a:latin typeface="Microsoft YaHei"/>
                <a:ea typeface="Microsoft YaHei"/>
              </a:rPr>
              <a:t>请管理层当场确认：① 增补实施编制 14 人　② 回款专项激励 80 万元　③ 暂缓华东二线仓配扩容</a:t>
            </a:r>
          </a:p>
        </p:txBody>
      </p:sp>
      <p:sp>
        <p:nvSpPr>
          <p:cNvPr id="22" name="rect 22"/>
          <p:cNvSpPr/>
          <p:nvPr/>
        </p:nvSpPr>
        <p:spPr>
          <a:xfrm>
            <a:off x="711200" y="6172200"/>
            <a:ext cx="10769600" cy="12700"/>
          </a:xfrm>
          <a:prstGeom prst="rect">
            <a:avLst/>
          </a:prstGeom>
          <a:ln w="12700">
            <a:solidFill>
              <a:srgbClr val="DDE5E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11200" y="6324600"/>
            <a:ext cx="76200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l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会前材料《Q2 经营月报全文》《风险管理办法 V3.2》请联系 顾一凡（内网 8021）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0000" y="6324600"/>
            <a:ext cx="1320800" cy="203200"/>
          </a:xfrm>
          <a:prstGeom prst="rect">
            <a:avLst/>
          </a:prstGeom>
          <a:noFill/>
          <a:ln>
            <a:noFill/>
          </a:ln>
        </p:spPr>
        <p:txBody>
          <a:bodyPr rtlCol="0" lIns="0" tIns="0" rIns="0" bIns="0" wrap="square">
            <a:normAutofit/>
          </a:bodyPr>
          <a:lstStyle/>
          <a:p>
            <a:pPr algn="r"/>
            <a:r>
              <a:rPr lang="en-US" sz="1000" b="0">
                <a:solidFill>
                  <a:srgbClr val="7A8A99"/>
                </a:solidFill>
                <a:latin typeface="Microsoft YaHei"/>
                <a:ea typeface="Microsoft YaHei"/>
              </a:rPr>
              <a:t>06 / 06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pptx-kit</dc:creator>
  <cp:lastModifiedBy>pptx-kit</cp:lastModifiedBy>
</cp:coreProperties>
</file>